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9.png" ContentType="image/png"/>
  <Override PartName="/ppt/media/image13.png" ContentType="image/png"/>
  <Override PartName="/ppt/media/image8.png" ContentType="image/png"/>
  <Override PartName="/ppt/media/image16.png" ContentType="image/png"/>
  <Override PartName="/ppt/media/image15.png" ContentType="image/png"/>
  <Override PartName="/ppt/media/image14.png" ContentType="image/png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10.png" ContentType="image/png"/>
  <Override PartName="/ppt/media/image6.png" ContentType="image/png"/>
  <Override PartName="/ppt/media/image11.png" ContentType="image/png"/>
  <Override PartName="/ppt/media/image7.png" ContentType="image/png"/>
  <Override PartName="/ppt/media/image12.png" ContentType="image/png"/>
  <Override PartName="/ppt/slides/slide1.xml" ContentType="application/vnd.openxmlformats-officedocument.presentationml.slide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0080625" cy="5670550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de-AT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de-AT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de-AT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AT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de-AT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AT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AT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de-AT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de-AT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de-AT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AT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AT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AT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de-AT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AT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AT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AT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de-AT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AT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AT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AT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de-AT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AT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AT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de-AT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AT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AT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AT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AT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de-AT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AT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AT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AT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AT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AT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AT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de-AT" sz="4400" spc="-1" strike="noStrike">
                <a:latin typeface="Arial"/>
              </a:rPr>
              <a:t>Click to edit the title text format</a:t>
            </a:r>
            <a:endParaRPr b="0" lang="de-AT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AT" sz="3200" spc="-1" strike="noStrike">
                <a:latin typeface="Arial"/>
              </a:rPr>
              <a:t>Click to edit the outline text format</a:t>
            </a:r>
            <a:endParaRPr b="0" lang="de-AT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AT" sz="2800" spc="-1" strike="noStrike">
                <a:latin typeface="Arial"/>
              </a:rPr>
              <a:t>Second Outline Level</a:t>
            </a:r>
            <a:endParaRPr b="0" lang="de-AT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AT" sz="2400" spc="-1" strike="noStrike">
                <a:latin typeface="Arial"/>
              </a:rPr>
              <a:t>Third Outline Level</a:t>
            </a:r>
            <a:endParaRPr b="0" lang="de-AT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AT" sz="2000" spc="-1" strike="noStrike">
                <a:latin typeface="Arial"/>
              </a:rPr>
              <a:t>Fourth Outline Level</a:t>
            </a:r>
            <a:endParaRPr b="0" lang="de-AT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AT" sz="2000" spc="-1" strike="noStrike">
                <a:latin typeface="Arial"/>
              </a:rPr>
              <a:t>Fifth Outline Level</a:t>
            </a:r>
            <a:endParaRPr b="0" lang="de-AT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AT" sz="2000" spc="-1" strike="noStrike">
                <a:latin typeface="Arial"/>
              </a:rPr>
              <a:t>Sixth Outline Level</a:t>
            </a:r>
            <a:endParaRPr b="0" lang="de-AT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AT" sz="2000" spc="-1" strike="noStrike">
                <a:latin typeface="Arial"/>
              </a:rPr>
              <a:t>Seventh Outline Level</a:t>
            </a:r>
            <a:endParaRPr b="0" lang="de-AT" sz="2000" spc="-1" strike="noStrike"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de-AT" sz="1400" spc="-1" strike="noStrike">
                <a:latin typeface="Times New Roman"/>
              </a:rPr>
              <a:t>&lt;date/time&gt;</a:t>
            </a:r>
            <a:endParaRPr b="0" lang="de-AT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algn="ctr"/>
            <a:r>
              <a:rPr b="0" lang="de-AT" sz="1400" spc="-1" strike="noStrike">
                <a:latin typeface="Times New Roman"/>
              </a:rPr>
              <a:t>&lt;footer&gt;</a:t>
            </a:r>
            <a:endParaRPr b="0" lang="de-AT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algn="r"/>
            <a:fld id="{87D6A5F3-F1BD-42BB-959A-3386D5FB47E6}" type="slidenum">
              <a:rPr b="0" lang="de-AT" sz="1400" spc="-1" strike="noStrike">
                <a:latin typeface="Times New Roman"/>
              </a:rPr>
              <a:t>&lt;number&gt;</a:t>
            </a:fld>
            <a:endParaRPr b="0" lang="de-AT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Shape 1"/>
          <p:cNvSpPr txBox="1"/>
          <p:nvPr/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de-AT" sz="4400" spc="-1" strike="noStrike">
                <a:solidFill>
                  <a:srgbClr val="2a6099"/>
                </a:solidFill>
                <a:latin typeface="Arial"/>
              </a:rPr>
              <a:t>Was sind europäische Burgen?</a:t>
            </a:r>
            <a:endParaRPr b="0" lang="de-AT" sz="4400" spc="-1" strike="noStrike">
              <a:latin typeface="Arial"/>
            </a:endParaRPr>
          </a:p>
        </p:txBody>
      </p:sp>
      <p:sp>
        <p:nvSpPr>
          <p:cNvPr id="42" name="TextShape 2"/>
          <p:cNvSpPr txBox="1"/>
          <p:nvPr/>
        </p:nvSpPr>
        <p:spPr>
          <a:xfrm>
            <a:off x="288000" y="1981800"/>
            <a:ext cx="3888000" cy="15462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 marL="216000" indent="-216000">
              <a:lnSpc>
                <a:spcPct val="100000"/>
              </a:lnSpc>
              <a:spcBef>
                <a:spcPts val="1701"/>
              </a:spcBef>
              <a:spcAft>
                <a:spcPts val="1701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de-AT" sz="1800" spc="-1" strike="noStrike">
                <a:latin typeface="Arial"/>
                <a:ea typeface="Noto Sans CJK SC"/>
              </a:rPr>
              <a:t>Befestigte Strukturen</a:t>
            </a:r>
            <a:endParaRPr b="0" lang="de-AT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701"/>
              </a:spcBef>
              <a:spcAft>
                <a:spcPts val="1701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de-AT" sz="1800" spc="-1" strike="noStrike">
                <a:latin typeface="Arial"/>
                <a:ea typeface="Noto Sans CJK SC"/>
              </a:rPr>
              <a:t>Im Mittelalter (von 6. bis 15. Jahrhundert)</a:t>
            </a:r>
            <a:endParaRPr b="0" lang="de-AT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701"/>
              </a:spcBef>
              <a:spcAft>
                <a:spcPts val="1701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de-AT" sz="1800" spc="-1" strike="noStrike">
                <a:latin typeface="Arial"/>
                <a:ea typeface="Noto Sans CJK SC"/>
              </a:rPr>
              <a:t>Von lokalen Herrschern</a:t>
            </a:r>
            <a:endParaRPr b="0" lang="de-AT" sz="1800" spc="-1" strike="noStrike">
              <a:latin typeface="Arial"/>
            </a:endParaRPr>
          </a:p>
        </p:txBody>
      </p:sp>
      <p:pic>
        <p:nvPicPr>
          <p:cNvPr id="43" name="" descr=""/>
          <p:cNvPicPr/>
          <p:nvPr/>
        </p:nvPicPr>
        <p:blipFill>
          <a:blip r:embed="rId1"/>
          <a:stretch/>
        </p:blipFill>
        <p:spPr>
          <a:xfrm>
            <a:off x="4154760" y="1152000"/>
            <a:ext cx="5349240" cy="4011840"/>
          </a:xfrm>
          <a:prstGeom prst="rect">
            <a:avLst/>
          </a:prstGeom>
          <a:ln>
            <a:noFill/>
          </a:ln>
        </p:spPr>
      </p:pic>
      <p:sp>
        <p:nvSpPr>
          <p:cNvPr id="44" name="TextShape 3"/>
          <p:cNvSpPr txBox="1"/>
          <p:nvPr/>
        </p:nvSpPr>
        <p:spPr>
          <a:xfrm>
            <a:off x="4107240" y="5184000"/>
            <a:ext cx="4532760" cy="60228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r>
              <a:rPr b="0" lang="de-AT" sz="1800" spc="-1" strike="noStrike">
                <a:latin typeface="Arial"/>
                <a:ea typeface="Noto Sans CJK SC"/>
              </a:rPr>
              <a:t>Burg Lahneck, </a:t>
            </a:r>
            <a:r>
              <a:rPr b="0" lang="de-AT" sz="1800" spc="-1" strike="noStrike">
                <a:latin typeface="Arial"/>
              </a:rPr>
              <a:t>Deutschland, 1226</a:t>
            </a:r>
            <a:endParaRPr b="0" lang="de-AT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Shape 1"/>
          <p:cNvSpPr txBox="1"/>
          <p:nvPr/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de-AT" sz="4400" spc="-1" strike="noStrike">
                <a:solidFill>
                  <a:srgbClr val="2a6099"/>
                </a:solidFill>
                <a:latin typeface="Arial"/>
              </a:rPr>
              <a:t>Was sind wichtige Teile einer Burg?</a:t>
            </a:r>
            <a:endParaRPr b="0" lang="de-AT" sz="4400" spc="-1" strike="noStrike">
              <a:latin typeface="Arial"/>
            </a:endParaRPr>
          </a:p>
        </p:txBody>
      </p:sp>
      <p:pic>
        <p:nvPicPr>
          <p:cNvPr id="46" name="" descr=""/>
          <p:cNvPicPr/>
          <p:nvPr/>
        </p:nvPicPr>
        <p:blipFill>
          <a:blip r:embed="rId1"/>
          <a:stretch/>
        </p:blipFill>
        <p:spPr>
          <a:xfrm>
            <a:off x="2304000" y="1172520"/>
            <a:ext cx="4904280" cy="4214520"/>
          </a:xfrm>
          <a:prstGeom prst="rect">
            <a:avLst/>
          </a:prstGeom>
          <a:ln>
            <a:noFill/>
          </a:ln>
        </p:spPr>
      </p:pic>
      <p:sp>
        <p:nvSpPr>
          <p:cNvPr id="47" name="Line 2"/>
          <p:cNvSpPr/>
          <p:nvPr/>
        </p:nvSpPr>
        <p:spPr>
          <a:xfrm flipV="1">
            <a:off x="3168000" y="4176000"/>
            <a:ext cx="1224000" cy="288000"/>
          </a:xfrm>
          <a:prstGeom prst="line">
            <a:avLst/>
          </a:prstGeom>
          <a:ln w="36000">
            <a:solidFill>
              <a:srgbClr val="ff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8" name="Line 3"/>
          <p:cNvSpPr/>
          <p:nvPr/>
        </p:nvSpPr>
        <p:spPr>
          <a:xfrm flipV="1">
            <a:off x="1944000" y="3312000"/>
            <a:ext cx="2160000" cy="144000"/>
          </a:xfrm>
          <a:prstGeom prst="line">
            <a:avLst/>
          </a:prstGeom>
          <a:ln w="36000">
            <a:solidFill>
              <a:srgbClr val="ff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9" name="Line 4"/>
          <p:cNvSpPr/>
          <p:nvPr/>
        </p:nvSpPr>
        <p:spPr>
          <a:xfrm flipH="1">
            <a:off x="5688000" y="3384000"/>
            <a:ext cx="1728000" cy="216000"/>
          </a:xfrm>
          <a:prstGeom prst="line">
            <a:avLst/>
          </a:prstGeom>
          <a:ln w="36000">
            <a:solidFill>
              <a:srgbClr val="ff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50" name="Line 5"/>
          <p:cNvSpPr/>
          <p:nvPr/>
        </p:nvSpPr>
        <p:spPr>
          <a:xfrm flipH="1" flipV="1">
            <a:off x="5409000" y="3825000"/>
            <a:ext cx="936000" cy="432000"/>
          </a:xfrm>
          <a:prstGeom prst="line">
            <a:avLst/>
          </a:prstGeom>
          <a:ln w="36000">
            <a:solidFill>
              <a:srgbClr val="ff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51" name="Line 6"/>
          <p:cNvSpPr/>
          <p:nvPr/>
        </p:nvSpPr>
        <p:spPr>
          <a:xfrm flipH="1">
            <a:off x="5480280" y="1944000"/>
            <a:ext cx="1935720" cy="216000"/>
          </a:xfrm>
          <a:prstGeom prst="line">
            <a:avLst/>
          </a:prstGeom>
          <a:ln w="36000">
            <a:solidFill>
              <a:srgbClr val="ff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52" name="TextShape 7"/>
          <p:cNvSpPr txBox="1"/>
          <p:nvPr/>
        </p:nvSpPr>
        <p:spPr>
          <a:xfrm>
            <a:off x="7953120" y="4608000"/>
            <a:ext cx="1665000" cy="34668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r>
              <a:rPr b="0" lang="de-AT" sz="1800" spc="-1" strike="noStrike">
                <a:latin typeface="Arial"/>
              </a:rPr>
              <a:t>Das Fallgatter </a:t>
            </a:r>
            <a:endParaRPr b="0" lang="de-AT" sz="1800" spc="-1" strike="noStrike">
              <a:latin typeface="Arial"/>
            </a:endParaRPr>
          </a:p>
        </p:txBody>
      </p:sp>
      <p:pic>
        <p:nvPicPr>
          <p:cNvPr id="53" name="" descr=""/>
          <p:cNvPicPr/>
          <p:nvPr/>
        </p:nvPicPr>
        <p:blipFill>
          <a:blip r:embed="rId2"/>
          <a:stretch/>
        </p:blipFill>
        <p:spPr>
          <a:xfrm>
            <a:off x="6408000" y="4100760"/>
            <a:ext cx="1545120" cy="1011240"/>
          </a:xfrm>
          <a:prstGeom prst="rect">
            <a:avLst/>
          </a:prstGeom>
          <a:ln>
            <a:noFill/>
          </a:ln>
        </p:spPr>
      </p:pic>
      <p:pic>
        <p:nvPicPr>
          <p:cNvPr id="54" name="" descr=""/>
          <p:cNvPicPr/>
          <p:nvPr/>
        </p:nvPicPr>
        <p:blipFill>
          <a:blip r:embed="rId3"/>
          <a:stretch/>
        </p:blipFill>
        <p:spPr>
          <a:xfrm>
            <a:off x="7560000" y="2736000"/>
            <a:ext cx="789120" cy="1183680"/>
          </a:xfrm>
          <a:prstGeom prst="rect">
            <a:avLst/>
          </a:prstGeom>
          <a:ln>
            <a:noFill/>
          </a:ln>
        </p:spPr>
      </p:pic>
      <p:sp>
        <p:nvSpPr>
          <p:cNvPr id="55" name="TextShape 8"/>
          <p:cNvSpPr txBox="1"/>
          <p:nvPr/>
        </p:nvSpPr>
        <p:spPr>
          <a:xfrm>
            <a:off x="360000" y="3312000"/>
            <a:ext cx="1479240" cy="60228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r>
              <a:rPr b="0" lang="de-AT" sz="1800" spc="-1" strike="noStrike">
                <a:latin typeface="Arial"/>
              </a:rPr>
              <a:t>Die Kurtine</a:t>
            </a:r>
            <a:endParaRPr b="0" lang="de-AT" sz="1800" spc="-1" strike="noStrike">
              <a:latin typeface="Arial"/>
            </a:endParaRPr>
          </a:p>
        </p:txBody>
      </p:sp>
      <p:sp>
        <p:nvSpPr>
          <p:cNvPr id="56" name="TextShape 9"/>
          <p:cNvSpPr txBox="1"/>
          <p:nvPr/>
        </p:nvSpPr>
        <p:spPr>
          <a:xfrm>
            <a:off x="8349120" y="3168000"/>
            <a:ext cx="1258200" cy="60228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r>
              <a:rPr b="0" lang="de-AT" sz="1800" spc="-1" strike="noStrike">
                <a:latin typeface="Arial"/>
              </a:rPr>
              <a:t>Das Pfeilschlitz</a:t>
            </a:r>
            <a:endParaRPr b="0" lang="de-AT" sz="1800" spc="-1" strike="noStrike">
              <a:latin typeface="Arial"/>
            </a:endParaRPr>
          </a:p>
        </p:txBody>
      </p:sp>
      <p:sp>
        <p:nvSpPr>
          <p:cNvPr id="57" name="TextShape 10"/>
          <p:cNvSpPr txBox="1"/>
          <p:nvPr/>
        </p:nvSpPr>
        <p:spPr>
          <a:xfrm>
            <a:off x="1728000" y="4293720"/>
            <a:ext cx="2232000" cy="60228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r>
              <a:rPr b="0" lang="de-AT" sz="1800" spc="-1" strike="noStrike">
                <a:latin typeface="Arial"/>
              </a:rPr>
              <a:t>Der Graben</a:t>
            </a:r>
            <a:endParaRPr b="0" lang="de-AT" sz="1800" spc="-1" strike="noStrike">
              <a:latin typeface="Arial"/>
            </a:endParaRPr>
          </a:p>
        </p:txBody>
      </p:sp>
      <p:sp>
        <p:nvSpPr>
          <p:cNvPr id="58" name="TextShape 11"/>
          <p:cNvSpPr txBox="1"/>
          <p:nvPr/>
        </p:nvSpPr>
        <p:spPr>
          <a:xfrm>
            <a:off x="7416000" y="1741320"/>
            <a:ext cx="1440000" cy="60228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r>
              <a:rPr b="0" lang="de-AT" sz="1800" spc="-1" strike="noStrike">
                <a:latin typeface="Arial"/>
              </a:rPr>
              <a:t>Der Donjon</a:t>
            </a:r>
            <a:endParaRPr b="0" lang="de-AT" sz="1800" spc="-1" strike="noStrike">
              <a:latin typeface="Arial"/>
            </a:endParaRPr>
          </a:p>
        </p:txBody>
      </p:sp>
      <p:sp>
        <p:nvSpPr>
          <p:cNvPr id="59" name="TextShape 12"/>
          <p:cNvSpPr txBox="1"/>
          <p:nvPr/>
        </p:nvSpPr>
        <p:spPr>
          <a:xfrm>
            <a:off x="2309400" y="5328000"/>
            <a:ext cx="4818600" cy="60228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r>
              <a:rPr b="0" lang="de-AT" sz="1800" spc="-1" strike="noStrike">
                <a:latin typeface="Arial"/>
              </a:rPr>
              <a:t>Burg Caerlaverock, Wales, 13. Jahrhundert</a:t>
            </a:r>
            <a:endParaRPr b="0" lang="de-AT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Shape 1"/>
          <p:cNvSpPr txBox="1"/>
          <p:nvPr/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de-AT" sz="4400" spc="-1" strike="noStrike">
                <a:solidFill>
                  <a:srgbClr val="2a6099"/>
                </a:solidFill>
                <a:latin typeface="Arial"/>
              </a:rPr>
              <a:t>Warum wurden in Europa Burgen gebaut?</a:t>
            </a:r>
            <a:endParaRPr b="0" lang="de-AT" sz="4400" spc="-1" strike="noStrike">
              <a:latin typeface="Arial"/>
            </a:endParaRPr>
          </a:p>
        </p:txBody>
      </p:sp>
      <p:pic>
        <p:nvPicPr>
          <p:cNvPr id="61" name="" descr=""/>
          <p:cNvPicPr/>
          <p:nvPr/>
        </p:nvPicPr>
        <p:blipFill>
          <a:blip r:embed="rId1"/>
          <a:stretch/>
        </p:blipFill>
        <p:spPr>
          <a:xfrm>
            <a:off x="5328000" y="1872000"/>
            <a:ext cx="4591080" cy="2949840"/>
          </a:xfrm>
          <a:prstGeom prst="rect">
            <a:avLst/>
          </a:prstGeom>
          <a:ln>
            <a:noFill/>
          </a:ln>
        </p:spPr>
      </p:pic>
      <p:sp>
        <p:nvSpPr>
          <p:cNvPr id="62" name="TextShape 2"/>
          <p:cNvSpPr txBox="1"/>
          <p:nvPr/>
        </p:nvSpPr>
        <p:spPr>
          <a:xfrm>
            <a:off x="288000" y="2016000"/>
            <a:ext cx="4824000" cy="318996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 marL="216000" indent="-2160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AT" sz="1800" spc="-1" strike="noStrike">
                <a:latin typeface="Arial"/>
                <a:ea typeface="Noto Sans CJK SC"/>
              </a:rPr>
              <a:t>Um die wichtiger Reiserouten und Umgebung zu kontrollieren</a:t>
            </a:r>
            <a:endParaRPr b="0" lang="de-AT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AT" sz="1800" spc="-1" strike="noStrike">
                <a:latin typeface="Arial"/>
                <a:ea typeface="Noto Sans CJK SC"/>
              </a:rPr>
              <a:t>Sie waren offensive und defensive Strukturen</a:t>
            </a:r>
            <a:endParaRPr b="0" lang="de-AT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AT" sz="1800" spc="-1" strike="noStrike">
                <a:latin typeface="Arial"/>
                <a:ea typeface="Noto Sans CJK SC"/>
              </a:rPr>
              <a:t>Sie wurden als Verwaltungszentren und Machtsymbole verwendet</a:t>
            </a:r>
            <a:endParaRPr b="0" lang="de-AT" sz="1800" spc="-1" strike="noStrike">
              <a:latin typeface="Arial"/>
            </a:endParaRPr>
          </a:p>
        </p:txBody>
      </p:sp>
      <p:sp>
        <p:nvSpPr>
          <p:cNvPr id="63" name="TextShape 3"/>
          <p:cNvSpPr txBox="1"/>
          <p:nvPr/>
        </p:nvSpPr>
        <p:spPr>
          <a:xfrm>
            <a:off x="5328000" y="4896000"/>
            <a:ext cx="4458600" cy="34668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r>
              <a:rPr b="0" lang="de-AT" sz="1800" spc="-1" strike="noStrike">
                <a:latin typeface="Arial"/>
              </a:rPr>
              <a:t>Burg Beaumaris , Wales, 13. Jahrhundert</a:t>
            </a:r>
            <a:endParaRPr b="0" lang="de-AT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Shape 1"/>
          <p:cNvSpPr txBox="1"/>
          <p:nvPr/>
        </p:nvSpPr>
        <p:spPr>
          <a:xfrm>
            <a:off x="504000" y="74520"/>
            <a:ext cx="9071640" cy="12502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de-AT" sz="4400" spc="-1" strike="noStrike">
                <a:solidFill>
                  <a:srgbClr val="2a6099"/>
                </a:solidFill>
                <a:latin typeface="Arial"/>
              </a:rPr>
              <a:t>Warum gibt es in Europa so viele Burgen?</a:t>
            </a:r>
            <a:endParaRPr b="0" lang="de-AT" sz="4400" spc="-1" strike="noStrike">
              <a:latin typeface="Arial"/>
            </a:endParaRPr>
          </a:p>
        </p:txBody>
      </p:sp>
      <p:pic>
        <p:nvPicPr>
          <p:cNvPr id="65" name="" descr=""/>
          <p:cNvPicPr/>
          <p:nvPr/>
        </p:nvPicPr>
        <p:blipFill>
          <a:blip r:embed="rId1"/>
          <a:stretch/>
        </p:blipFill>
        <p:spPr>
          <a:xfrm>
            <a:off x="6552000" y="1845720"/>
            <a:ext cx="3288600" cy="2499840"/>
          </a:xfrm>
          <a:prstGeom prst="rect">
            <a:avLst/>
          </a:prstGeom>
          <a:ln>
            <a:noFill/>
          </a:ln>
        </p:spPr>
      </p:pic>
      <p:sp>
        <p:nvSpPr>
          <p:cNvPr id="66" name="TextShape 2"/>
          <p:cNvSpPr txBox="1"/>
          <p:nvPr/>
        </p:nvSpPr>
        <p:spPr>
          <a:xfrm>
            <a:off x="6660720" y="1845720"/>
            <a:ext cx="3131280" cy="60228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r>
              <a:rPr b="0" lang="de-AT" sz="1800" spc="-1" strike="noStrike">
                <a:latin typeface="Arial"/>
                <a:ea typeface="Noto Sans CJK SC"/>
              </a:rPr>
              <a:t>Das Gebiet des Fränkisches</a:t>
            </a:r>
            <a:r>
              <a:rPr b="0" lang="de-AT" sz="1800" spc="-1" strike="noStrike">
                <a:latin typeface="Arial"/>
              </a:rPr>
              <a:t> </a:t>
            </a:r>
            <a:br/>
            <a:r>
              <a:rPr b="0" lang="de-AT" sz="1800" spc="-1" strike="noStrike">
                <a:latin typeface="Arial"/>
              </a:rPr>
              <a:t>Reich im 9. Jahrhundert</a:t>
            </a:r>
            <a:endParaRPr b="0" lang="de-AT" sz="1800" spc="-1" strike="noStrike">
              <a:latin typeface="Arial"/>
            </a:endParaRPr>
          </a:p>
        </p:txBody>
      </p:sp>
      <p:pic>
        <p:nvPicPr>
          <p:cNvPr id="67" name="" descr=""/>
          <p:cNvPicPr/>
          <p:nvPr/>
        </p:nvPicPr>
        <p:blipFill>
          <a:blip r:embed="rId2"/>
          <a:stretch/>
        </p:blipFill>
        <p:spPr>
          <a:xfrm>
            <a:off x="3096000" y="2449440"/>
            <a:ext cx="3528000" cy="2878560"/>
          </a:xfrm>
          <a:prstGeom prst="rect">
            <a:avLst/>
          </a:prstGeom>
          <a:ln>
            <a:noFill/>
          </a:ln>
        </p:spPr>
      </p:pic>
      <p:sp>
        <p:nvSpPr>
          <p:cNvPr id="68" name="TextShape 3"/>
          <p:cNvSpPr txBox="1"/>
          <p:nvPr/>
        </p:nvSpPr>
        <p:spPr>
          <a:xfrm>
            <a:off x="2592000" y="5383440"/>
            <a:ext cx="5332320" cy="37404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r>
              <a:rPr b="0" lang="de-AT" sz="1000" spc="-1" strike="noStrike">
                <a:latin typeface="Arial"/>
              </a:rPr>
              <a:t>Belagerung Paris' durch eine Wikingerflotte (Darstellung des 19. Jahrhunderts)</a:t>
            </a:r>
            <a:endParaRPr b="0" lang="de-AT" sz="1000" spc="-1" strike="noStrike">
              <a:latin typeface="Arial"/>
            </a:endParaRPr>
          </a:p>
        </p:txBody>
      </p:sp>
      <p:sp>
        <p:nvSpPr>
          <p:cNvPr id="69" name="TextShape 4"/>
          <p:cNvSpPr txBox="1"/>
          <p:nvPr/>
        </p:nvSpPr>
        <p:spPr>
          <a:xfrm>
            <a:off x="72000" y="1728000"/>
            <a:ext cx="3528000" cy="31680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 marL="216000" indent="-216000">
              <a:lnSpc>
                <a:spcPct val="100000"/>
              </a:lnSpc>
              <a:spcBef>
                <a:spcPts val="1134"/>
              </a:spcBef>
              <a:spcAft>
                <a:spcPts val="113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AT" sz="1800" spc="-1" strike="noStrike">
                <a:latin typeface="Arial"/>
                <a:ea typeface="Noto Sans CJK SC"/>
              </a:rPr>
              <a:t>Im 9. Jahrhundert</a:t>
            </a:r>
            <a:endParaRPr b="0" lang="de-AT" sz="1800" spc="-1" strike="noStrike"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1134"/>
              </a:spcBef>
              <a:spcAft>
                <a:spcPts val="113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AT" sz="1800" spc="-1" strike="noStrike">
                <a:latin typeface="Arial"/>
                <a:ea typeface="Noto Sans CJK SC"/>
              </a:rPr>
              <a:t>Die Invasion der Wikinger </a:t>
            </a:r>
            <a:endParaRPr b="0" lang="de-AT" sz="1800" spc="-1" strike="noStrike"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1134"/>
              </a:spcBef>
              <a:spcAft>
                <a:spcPts val="113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AT" sz="1800" spc="-1" strike="noStrike">
                <a:latin typeface="Arial"/>
                <a:ea typeface="Noto Sans CJK SC"/>
              </a:rPr>
              <a:t>Der Untergang des </a:t>
            </a:r>
            <a:br/>
            <a:r>
              <a:rPr b="0" lang="de-AT" sz="1800" spc="-1" strike="noStrike">
                <a:latin typeface="Arial"/>
                <a:ea typeface="Noto Sans CJK SC"/>
              </a:rPr>
              <a:t>Fränkisches Reich in </a:t>
            </a:r>
            <a:br/>
            <a:r>
              <a:rPr b="0" lang="de-AT" sz="1800" spc="-1" strike="noStrike">
                <a:latin typeface="Arial"/>
                <a:ea typeface="Noto Sans CJK SC"/>
              </a:rPr>
              <a:t>Europa</a:t>
            </a:r>
            <a:endParaRPr b="0" lang="de-AT" sz="1800" spc="-1" strike="noStrike">
              <a:latin typeface="Arial"/>
            </a:endParaRPr>
          </a:p>
        </p:txBody>
      </p:sp>
      <p:pic>
        <p:nvPicPr>
          <p:cNvPr id="70" name="" descr=""/>
          <p:cNvPicPr/>
          <p:nvPr/>
        </p:nvPicPr>
        <p:blipFill>
          <a:blip r:embed="rId3"/>
          <a:stretch/>
        </p:blipFill>
        <p:spPr>
          <a:xfrm>
            <a:off x="8208000" y="3672000"/>
            <a:ext cx="1686240" cy="1800000"/>
          </a:xfrm>
          <a:prstGeom prst="rect">
            <a:avLst/>
          </a:prstGeom>
          <a:ln>
            <a:noFill/>
          </a:ln>
        </p:spPr>
      </p:pic>
      <p:sp>
        <p:nvSpPr>
          <p:cNvPr id="71" name="Line 5"/>
          <p:cNvSpPr/>
          <p:nvPr/>
        </p:nvSpPr>
        <p:spPr>
          <a:xfrm>
            <a:off x="7992000" y="3600000"/>
            <a:ext cx="432000" cy="360000"/>
          </a:xfrm>
          <a:prstGeom prst="line">
            <a:avLst/>
          </a:prstGeom>
          <a:ln w="36000">
            <a:solidFill>
              <a:srgbClr val="ff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Shape 1"/>
          <p:cNvSpPr txBox="1"/>
          <p:nvPr/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de-AT" sz="4400" spc="-1" strike="noStrike">
                <a:solidFill>
                  <a:srgbClr val="2a6099"/>
                </a:solidFill>
                <a:latin typeface="Arial"/>
              </a:rPr>
              <a:t>Einige wichtige Burgen in Österreich</a:t>
            </a:r>
            <a:endParaRPr b="0" lang="de-AT" sz="4400" spc="-1" strike="noStrike">
              <a:latin typeface="Arial"/>
            </a:endParaRPr>
          </a:p>
        </p:txBody>
      </p:sp>
      <p:sp>
        <p:nvSpPr>
          <p:cNvPr id="73" name="TextShape 2"/>
          <p:cNvSpPr txBox="1"/>
          <p:nvPr/>
        </p:nvSpPr>
        <p:spPr>
          <a:xfrm>
            <a:off x="478800" y="1224000"/>
            <a:ext cx="3841200" cy="6930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r>
              <a:rPr b="1" lang="de-AT" sz="1600" spc="-1" strike="noStrike">
                <a:latin typeface="Arial"/>
              </a:rPr>
              <a:t>Burg Kreuzenstein, Niederösterreich</a:t>
            </a:r>
            <a:endParaRPr b="0" lang="de-AT" sz="1600" spc="-1" strike="noStrike">
              <a:latin typeface="Arial"/>
            </a:endParaRPr>
          </a:p>
          <a:p>
            <a:endParaRPr b="0" lang="de-AT" sz="1600" spc="-1" strike="noStrike">
              <a:latin typeface="Arial"/>
            </a:endParaRPr>
          </a:p>
        </p:txBody>
      </p:sp>
      <p:pic>
        <p:nvPicPr>
          <p:cNvPr id="74" name="" descr=""/>
          <p:cNvPicPr/>
          <p:nvPr/>
        </p:nvPicPr>
        <p:blipFill>
          <a:blip r:embed="rId1"/>
          <a:stretch/>
        </p:blipFill>
        <p:spPr>
          <a:xfrm>
            <a:off x="576000" y="1595880"/>
            <a:ext cx="5529600" cy="3444120"/>
          </a:xfrm>
          <a:prstGeom prst="rect">
            <a:avLst/>
          </a:prstGeom>
          <a:ln>
            <a:noFill/>
          </a:ln>
        </p:spPr>
      </p:pic>
      <p:sp>
        <p:nvSpPr>
          <p:cNvPr id="75" name="TextShape 3"/>
          <p:cNvSpPr txBox="1"/>
          <p:nvPr/>
        </p:nvSpPr>
        <p:spPr>
          <a:xfrm>
            <a:off x="6124680" y="2070000"/>
            <a:ext cx="3811320" cy="23940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r>
              <a:rPr b="1" lang="de-AT" sz="1800" spc="-1" strike="noStrike">
                <a:latin typeface="Arial"/>
                <a:ea typeface="Noto Sans CJK SC"/>
              </a:rPr>
              <a:t>Ort: </a:t>
            </a:r>
            <a:r>
              <a:rPr b="0" lang="de-AT" sz="1800" spc="-1" strike="noStrike">
                <a:latin typeface="Arial"/>
                <a:ea typeface="Noto Sans CJK SC"/>
              </a:rPr>
              <a:t>Leobendorf</a:t>
            </a:r>
            <a:br/>
            <a:br/>
            <a:r>
              <a:rPr b="1" lang="de-AT" sz="1800" spc="-1" strike="noStrike">
                <a:latin typeface="Arial"/>
                <a:ea typeface="Noto Sans CJK SC"/>
              </a:rPr>
              <a:t>Erbaut: </a:t>
            </a:r>
            <a:r>
              <a:rPr b="0" lang="de-AT" sz="1800" spc="-1" strike="noStrike">
                <a:latin typeface="Arial"/>
                <a:ea typeface="Noto Sans CJK SC"/>
              </a:rPr>
              <a:t>von 11 bis 12 </a:t>
            </a:r>
            <a:r>
              <a:rPr b="0" lang="de-AT" sz="1800" spc="-1" strike="noStrike">
                <a:latin typeface="Arial"/>
              </a:rPr>
              <a:t>Jahrhunderts </a:t>
            </a:r>
            <a:endParaRPr b="0" lang="de-AT" sz="1800" spc="-1" strike="noStrike">
              <a:latin typeface="Arial"/>
            </a:endParaRPr>
          </a:p>
          <a:p>
            <a:endParaRPr b="0" lang="de-AT" sz="1800" spc="-1" strike="noStrike">
              <a:latin typeface="Arial"/>
            </a:endParaRPr>
          </a:p>
          <a:p>
            <a:r>
              <a:rPr b="1" lang="de-AT" sz="1800" spc="-1" strike="noStrike">
                <a:latin typeface="Arial"/>
                <a:ea typeface="Noto Sans CJK SC"/>
              </a:rPr>
              <a:t>Erbaut von:</a:t>
            </a:r>
            <a:r>
              <a:rPr b="0" lang="de-AT" sz="1800" spc="-1" strike="noStrike">
                <a:latin typeface="Arial"/>
                <a:ea typeface="Noto Sans CJK SC"/>
              </a:rPr>
              <a:t> </a:t>
            </a:r>
            <a:r>
              <a:rPr b="0" lang="de-AT" sz="1800" spc="-1" strike="noStrike">
                <a:latin typeface="Arial"/>
              </a:rPr>
              <a:t>Familie Formbachern</a:t>
            </a:r>
            <a:endParaRPr b="0" lang="de-AT" sz="1800" spc="-1" strike="noStrike">
              <a:latin typeface="Arial"/>
            </a:endParaRPr>
          </a:p>
          <a:p>
            <a:endParaRPr b="0" lang="de-AT" sz="1800" spc="-1" strike="noStrike">
              <a:latin typeface="Arial"/>
            </a:endParaRPr>
          </a:p>
          <a:p>
            <a:r>
              <a:rPr b="1" lang="de-AT" sz="1800" spc="-1" strike="noStrike">
                <a:latin typeface="Arial"/>
              </a:rPr>
              <a:t>Interessant Fakt:</a:t>
            </a:r>
            <a:r>
              <a:rPr b="0" lang="de-AT" sz="1800" spc="-1" strike="noStrike">
                <a:latin typeface="Arial"/>
              </a:rPr>
              <a:t> Filmkulisse</a:t>
            </a:r>
            <a:endParaRPr b="0" lang="de-AT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Shape 1"/>
          <p:cNvSpPr txBox="1"/>
          <p:nvPr/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de-AT" sz="4400" spc="-1" strike="noStrike">
                <a:solidFill>
                  <a:srgbClr val="2a6099"/>
                </a:solidFill>
                <a:latin typeface="Arial"/>
              </a:rPr>
              <a:t>Einige wichtige Burgen in Österreich</a:t>
            </a:r>
            <a:endParaRPr b="0" lang="de-AT" sz="4400" spc="-1" strike="noStrike">
              <a:latin typeface="Arial"/>
            </a:endParaRPr>
          </a:p>
        </p:txBody>
      </p:sp>
      <p:sp>
        <p:nvSpPr>
          <p:cNvPr id="77" name="TextShape 2"/>
          <p:cNvSpPr txBox="1"/>
          <p:nvPr/>
        </p:nvSpPr>
        <p:spPr>
          <a:xfrm>
            <a:off x="432000" y="1118520"/>
            <a:ext cx="3456000" cy="60948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r>
              <a:rPr b="1" lang="de-AT" sz="1600" spc="-1" strike="noStrike">
                <a:latin typeface="Arial"/>
              </a:rPr>
              <a:t>Burg Hochosterwitz, Kärnten</a:t>
            </a:r>
            <a:endParaRPr b="0" lang="de-AT" sz="1600" spc="-1" strike="noStrike">
              <a:latin typeface="Arial"/>
            </a:endParaRPr>
          </a:p>
        </p:txBody>
      </p:sp>
      <p:pic>
        <p:nvPicPr>
          <p:cNvPr id="78" name="" descr=""/>
          <p:cNvPicPr/>
          <p:nvPr/>
        </p:nvPicPr>
        <p:blipFill>
          <a:blip r:embed="rId1"/>
          <a:stretch/>
        </p:blipFill>
        <p:spPr>
          <a:xfrm>
            <a:off x="576000" y="1656000"/>
            <a:ext cx="5157000" cy="3211920"/>
          </a:xfrm>
          <a:prstGeom prst="rect">
            <a:avLst/>
          </a:prstGeom>
          <a:ln>
            <a:noFill/>
          </a:ln>
        </p:spPr>
      </p:pic>
      <p:sp>
        <p:nvSpPr>
          <p:cNvPr id="79" name="TextShape 3"/>
          <p:cNvSpPr txBox="1"/>
          <p:nvPr/>
        </p:nvSpPr>
        <p:spPr>
          <a:xfrm>
            <a:off x="6125040" y="2070000"/>
            <a:ext cx="3666960" cy="213804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r>
              <a:rPr b="1" lang="de-AT" sz="1800" spc="-1" strike="noStrike">
                <a:latin typeface="Arial"/>
              </a:rPr>
              <a:t>Ort: </a:t>
            </a:r>
            <a:r>
              <a:rPr b="0" lang="de-AT" sz="1800" spc="-1" strike="noStrike">
                <a:latin typeface="Arial"/>
              </a:rPr>
              <a:t>St. Georgen am Längsee</a:t>
            </a:r>
            <a:br/>
            <a:br/>
            <a:r>
              <a:rPr b="1" lang="de-AT" sz="1800" spc="-1" strike="noStrike">
                <a:latin typeface="Arial"/>
              </a:rPr>
              <a:t>Erbaut: </a:t>
            </a:r>
            <a:r>
              <a:rPr b="0" lang="de-AT" sz="1800" spc="-1" strike="noStrike">
                <a:latin typeface="Arial"/>
              </a:rPr>
              <a:t>um 860</a:t>
            </a:r>
            <a:endParaRPr b="0" lang="de-AT" sz="1800" spc="-1" strike="noStrike">
              <a:latin typeface="Arial"/>
            </a:endParaRPr>
          </a:p>
          <a:p>
            <a:endParaRPr b="0" lang="de-AT" sz="1800" spc="-1" strike="noStrike">
              <a:latin typeface="Arial"/>
            </a:endParaRPr>
          </a:p>
          <a:p>
            <a:r>
              <a:rPr b="1" lang="de-AT" sz="1800" spc="-1" strike="noStrike">
                <a:latin typeface="Arial"/>
              </a:rPr>
              <a:t>Erbaut von:</a:t>
            </a:r>
            <a:r>
              <a:rPr b="0" lang="de-AT" sz="1800" spc="-1" strike="noStrike">
                <a:latin typeface="Arial"/>
              </a:rPr>
              <a:t> Familie Osterwitz</a:t>
            </a:r>
            <a:endParaRPr b="0" lang="de-AT" sz="1800" spc="-1" strike="noStrike">
              <a:latin typeface="Arial"/>
            </a:endParaRPr>
          </a:p>
          <a:p>
            <a:endParaRPr b="0" lang="de-AT" sz="1800" spc="-1" strike="noStrike">
              <a:latin typeface="Arial"/>
            </a:endParaRPr>
          </a:p>
          <a:p>
            <a:r>
              <a:rPr b="1" lang="de-AT" sz="1800" spc="-1" strike="noStrike">
                <a:latin typeface="Arial"/>
              </a:rPr>
              <a:t>Interessant Fakt:</a:t>
            </a:r>
            <a:r>
              <a:rPr b="0" lang="de-AT" sz="1800" spc="-1" strike="noStrike">
                <a:latin typeface="Arial"/>
              </a:rPr>
              <a:t> Burghymne</a:t>
            </a:r>
            <a:endParaRPr b="0" lang="de-AT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extShape 1"/>
          <p:cNvSpPr txBox="1"/>
          <p:nvPr/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de-AT" sz="4400" spc="-1" strike="noStrike">
                <a:solidFill>
                  <a:srgbClr val="2a6099"/>
                </a:solidFill>
                <a:latin typeface="Arial"/>
              </a:rPr>
              <a:t>Einige wichtige Burgen in Österreich</a:t>
            </a:r>
            <a:endParaRPr b="0" lang="de-AT" sz="4400" spc="-1" strike="noStrike">
              <a:latin typeface="Arial"/>
            </a:endParaRPr>
          </a:p>
        </p:txBody>
      </p:sp>
      <p:sp>
        <p:nvSpPr>
          <p:cNvPr id="81" name="TextShape 2"/>
          <p:cNvSpPr txBox="1"/>
          <p:nvPr/>
        </p:nvSpPr>
        <p:spPr>
          <a:xfrm>
            <a:off x="432000" y="1118520"/>
            <a:ext cx="3168000" cy="83484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r>
              <a:rPr b="1" lang="de-AT" sz="1600" spc="-1" strike="noStrike">
                <a:latin typeface="Arial"/>
              </a:rPr>
              <a:t>Burg Hohenwerfen, Salzburg</a:t>
            </a:r>
            <a:endParaRPr b="0" lang="de-AT" sz="1600" spc="-1" strike="noStrike">
              <a:latin typeface="Arial"/>
            </a:endParaRPr>
          </a:p>
          <a:p>
            <a:endParaRPr b="0" lang="de-AT" sz="1600" spc="-1" strike="noStrike">
              <a:latin typeface="Arial"/>
            </a:endParaRPr>
          </a:p>
        </p:txBody>
      </p:sp>
      <p:pic>
        <p:nvPicPr>
          <p:cNvPr id="82" name="" descr=""/>
          <p:cNvPicPr/>
          <p:nvPr/>
        </p:nvPicPr>
        <p:blipFill>
          <a:blip r:embed="rId1"/>
          <a:stretch/>
        </p:blipFill>
        <p:spPr>
          <a:xfrm>
            <a:off x="533520" y="1584000"/>
            <a:ext cx="5433120" cy="3384000"/>
          </a:xfrm>
          <a:prstGeom prst="rect">
            <a:avLst/>
          </a:prstGeom>
          <a:ln>
            <a:noFill/>
          </a:ln>
        </p:spPr>
      </p:pic>
      <p:sp>
        <p:nvSpPr>
          <p:cNvPr id="83" name="TextShape 3"/>
          <p:cNvSpPr txBox="1"/>
          <p:nvPr/>
        </p:nvSpPr>
        <p:spPr>
          <a:xfrm>
            <a:off x="6125400" y="2070360"/>
            <a:ext cx="3738600" cy="264996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r>
              <a:rPr b="1" lang="de-AT" sz="1800" spc="-1" strike="noStrike">
                <a:latin typeface="Arial"/>
              </a:rPr>
              <a:t>Ort: </a:t>
            </a:r>
            <a:r>
              <a:rPr b="0" lang="de-AT" sz="1800" spc="-1" strike="noStrike">
                <a:latin typeface="Arial"/>
              </a:rPr>
              <a:t>Werfen</a:t>
            </a:r>
            <a:br/>
            <a:br/>
            <a:r>
              <a:rPr b="1" lang="de-AT" sz="1800" spc="-1" strike="noStrike">
                <a:latin typeface="Arial"/>
              </a:rPr>
              <a:t>Erbaut: </a:t>
            </a:r>
            <a:r>
              <a:rPr b="0" lang="de-AT" sz="1800" spc="-1" strike="noStrike">
                <a:latin typeface="Arial"/>
              </a:rPr>
              <a:t>von</a:t>
            </a:r>
            <a:r>
              <a:rPr b="1" lang="de-AT" sz="1800" spc="-1" strike="noStrike">
                <a:latin typeface="Arial"/>
              </a:rPr>
              <a:t> </a:t>
            </a:r>
            <a:r>
              <a:rPr b="0" lang="de-AT" sz="1800" spc="-1" strike="noStrike">
                <a:latin typeface="Arial"/>
              </a:rPr>
              <a:t>1075 bis 1078</a:t>
            </a:r>
            <a:endParaRPr b="0" lang="de-AT" sz="1800" spc="-1" strike="noStrike">
              <a:latin typeface="Arial"/>
            </a:endParaRPr>
          </a:p>
          <a:p>
            <a:endParaRPr b="0" lang="de-AT" sz="1800" spc="-1" strike="noStrike">
              <a:latin typeface="Arial"/>
            </a:endParaRPr>
          </a:p>
          <a:p>
            <a:r>
              <a:rPr b="1" lang="de-AT" sz="1800" spc="-1" strike="noStrike">
                <a:latin typeface="Arial"/>
              </a:rPr>
              <a:t>Erbaut von:</a:t>
            </a:r>
            <a:r>
              <a:rPr b="0" lang="de-AT" sz="1800" spc="-1" strike="noStrike">
                <a:latin typeface="Arial"/>
              </a:rPr>
              <a:t> Erzbischof Gebhard</a:t>
            </a:r>
            <a:endParaRPr b="0" lang="de-AT" sz="1800" spc="-1" strike="noStrike">
              <a:latin typeface="Arial"/>
            </a:endParaRPr>
          </a:p>
          <a:p>
            <a:endParaRPr b="0" lang="de-AT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de-AT" sz="1800" spc="-1" strike="noStrike">
                <a:latin typeface="Arial"/>
                <a:ea typeface="Noto Sans CJK SC"/>
              </a:rPr>
              <a:t>Interessant Fakt:</a:t>
            </a:r>
            <a:r>
              <a:rPr b="0" lang="de-AT" sz="1800" spc="-1" strike="noStrike">
                <a:latin typeface="Arial"/>
                <a:ea typeface="Noto Sans CJK SC"/>
              </a:rPr>
              <a:t> </a:t>
            </a:r>
            <a:r>
              <a:rPr b="0" lang="de-AT" sz="1800" spc="-1" strike="noStrike">
                <a:latin typeface="Arial"/>
              </a:rPr>
              <a:t>Filmkulisse</a:t>
            </a:r>
            <a:endParaRPr b="0" lang="de-AT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extShape 1"/>
          <p:cNvSpPr txBox="1"/>
          <p:nvPr/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de-AT" sz="4400" spc="-1" strike="noStrike">
                <a:solidFill>
                  <a:srgbClr val="2a6099"/>
                </a:solidFill>
                <a:latin typeface="Arial"/>
              </a:rPr>
              <a:t>Warum der Burgenbau in Europa aufhörte?</a:t>
            </a:r>
            <a:endParaRPr b="0" lang="de-AT" sz="4400" spc="-1" strike="noStrike">
              <a:latin typeface="Arial"/>
            </a:endParaRPr>
          </a:p>
        </p:txBody>
      </p:sp>
      <p:pic>
        <p:nvPicPr>
          <p:cNvPr id="85" name="" descr=""/>
          <p:cNvPicPr/>
          <p:nvPr/>
        </p:nvPicPr>
        <p:blipFill>
          <a:blip r:embed="rId1"/>
          <a:stretch/>
        </p:blipFill>
        <p:spPr>
          <a:xfrm>
            <a:off x="576000" y="2808000"/>
            <a:ext cx="3657240" cy="2056320"/>
          </a:xfrm>
          <a:prstGeom prst="rect">
            <a:avLst/>
          </a:prstGeom>
          <a:ln>
            <a:noFill/>
          </a:ln>
        </p:spPr>
      </p:pic>
      <p:sp>
        <p:nvSpPr>
          <p:cNvPr id="86" name="TextShape 2"/>
          <p:cNvSpPr txBox="1"/>
          <p:nvPr/>
        </p:nvSpPr>
        <p:spPr>
          <a:xfrm>
            <a:off x="288000" y="2304000"/>
            <a:ext cx="3888000" cy="60228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AT" sz="1800" spc="-1" strike="noStrike">
                <a:latin typeface="Arial"/>
              </a:rPr>
              <a:t>Das Advent des Schießpulvers </a:t>
            </a:r>
            <a:r>
              <a:rPr b="0" lang="de-AT" sz="1800" spc="-1" strike="noStrike">
                <a:latin typeface="Arial"/>
                <a:ea typeface="Noto Sans CJK SC"/>
              </a:rPr>
              <a:t>im 15. Jahrhundert</a:t>
            </a:r>
            <a:endParaRPr b="0" lang="de-AT" sz="1800" spc="-1" strike="noStrike">
              <a:latin typeface="Arial"/>
            </a:endParaRPr>
          </a:p>
        </p:txBody>
      </p:sp>
      <p:pic>
        <p:nvPicPr>
          <p:cNvPr id="87" name="" descr=""/>
          <p:cNvPicPr/>
          <p:nvPr/>
        </p:nvPicPr>
        <p:blipFill>
          <a:blip r:embed="rId2"/>
          <a:stretch/>
        </p:blipFill>
        <p:spPr>
          <a:xfrm>
            <a:off x="4896000" y="1584000"/>
            <a:ext cx="4855680" cy="3222720"/>
          </a:xfrm>
          <a:prstGeom prst="rect">
            <a:avLst/>
          </a:prstGeom>
          <a:ln>
            <a:noFill/>
          </a:ln>
        </p:spPr>
      </p:pic>
      <p:sp>
        <p:nvSpPr>
          <p:cNvPr id="88" name="TextShape 3"/>
          <p:cNvSpPr txBox="1"/>
          <p:nvPr/>
        </p:nvSpPr>
        <p:spPr>
          <a:xfrm>
            <a:off x="4843800" y="4837320"/>
            <a:ext cx="5164200" cy="34668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r>
              <a:rPr b="0" lang="de-AT" sz="1800" spc="-1" strike="noStrike">
                <a:latin typeface="Arial"/>
              </a:rPr>
              <a:t>Burg Ogrodzieniec, 14. Jahrhundert, Polen</a:t>
            </a:r>
            <a:endParaRPr b="0" lang="de-AT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extShape 1"/>
          <p:cNvSpPr txBox="1"/>
          <p:nvPr/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de-AT" sz="4400" spc="-1" strike="noStrike">
                <a:solidFill>
                  <a:srgbClr val="2a6099"/>
                </a:solidFill>
                <a:latin typeface="Arial"/>
              </a:rPr>
              <a:t>Was ist das Erbe der Burgen in Europa?</a:t>
            </a:r>
            <a:endParaRPr b="0" lang="de-AT" sz="4400" spc="-1" strike="noStrike">
              <a:latin typeface="Arial"/>
            </a:endParaRPr>
          </a:p>
        </p:txBody>
      </p:sp>
      <p:sp>
        <p:nvSpPr>
          <p:cNvPr id="90" name="TextShape 2"/>
          <p:cNvSpPr txBox="1"/>
          <p:nvPr/>
        </p:nvSpPr>
        <p:spPr>
          <a:xfrm>
            <a:off x="288000" y="2304000"/>
            <a:ext cx="3888000" cy="18421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 marL="216000" indent="-2160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AT" sz="1800" spc="-1" strike="noStrike">
                <a:latin typeface="Arial"/>
                <a:ea typeface="Noto Sans CJK SC"/>
              </a:rPr>
              <a:t>Die Machtverteilung als eine der Stiftungen der Demokratie</a:t>
            </a:r>
            <a:endParaRPr b="0" lang="de-AT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AT" sz="1800" spc="-1" strike="noStrike">
                <a:latin typeface="Arial"/>
                <a:ea typeface="Noto Sans CJK SC"/>
              </a:rPr>
              <a:t>Entwicklung der gotischen Kunst</a:t>
            </a:r>
            <a:endParaRPr b="0" lang="de-AT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AT" sz="1800" spc="-1" strike="noStrike">
                <a:latin typeface="Arial"/>
                <a:ea typeface="Noto Sans CJK SC"/>
              </a:rPr>
              <a:t>Sie symbolisieren Isolation und Widerstandsfähigkeit in der öffentliche Kultur</a:t>
            </a:r>
            <a:endParaRPr b="0" lang="de-AT" sz="1800" spc="-1" strike="noStrike">
              <a:latin typeface="Arial"/>
            </a:endParaRPr>
          </a:p>
        </p:txBody>
      </p:sp>
      <p:pic>
        <p:nvPicPr>
          <p:cNvPr id="91" name="" descr=""/>
          <p:cNvPicPr/>
          <p:nvPr/>
        </p:nvPicPr>
        <p:blipFill>
          <a:blip r:embed="rId1"/>
          <a:stretch/>
        </p:blipFill>
        <p:spPr>
          <a:xfrm>
            <a:off x="4824000" y="1549800"/>
            <a:ext cx="4653720" cy="3490200"/>
          </a:xfrm>
          <a:prstGeom prst="rect">
            <a:avLst/>
          </a:prstGeom>
          <a:ln>
            <a:noFill/>
          </a:ln>
        </p:spPr>
      </p:pic>
      <p:sp>
        <p:nvSpPr>
          <p:cNvPr id="92" name="TextShape 3"/>
          <p:cNvSpPr txBox="1"/>
          <p:nvPr/>
        </p:nvSpPr>
        <p:spPr>
          <a:xfrm>
            <a:off x="4824000" y="5053320"/>
            <a:ext cx="5184000" cy="60228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r>
              <a:rPr b="0" lang="de-AT" sz="1800" spc="-1" strike="noStrike">
                <a:latin typeface="Arial"/>
                <a:ea typeface="Noto Sans CJK SC"/>
              </a:rPr>
              <a:t>Alcázar von Segovia, Spanien, 11. Jahrhundert</a:t>
            </a:r>
            <a:r>
              <a:rPr b="0" lang="de-AT" sz="1800" spc="-1" strike="noStrike">
                <a:latin typeface="Arial"/>
              </a:rPr>
              <a:t>  </a:t>
            </a:r>
            <a:endParaRPr b="0" lang="de-AT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TextShape 1"/>
          <p:cNvSpPr txBox="1"/>
          <p:nvPr/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de-AT" sz="4400" spc="-1" strike="noStrike">
                <a:solidFill>
                  <a:srgbClr val="2a6099"/>
                </a:solidFill>
                <a:latin typeface="Arial"/>
              </a:rPr>
              <a:t>Anmerkungen und Weblinks</a:t>
            </a:r>
            <a:endParaRPr b="0" lang="de-AT" sz="4400" spc="-1" strike="noStrike">
              <a:latin typeface="Arial"/>
            </a:endParaRPr>
          </a:p>
        </p:txBody>
      </p:sp>
      <p:pic>
        <p:nvPicPr>
          <p:cNvPr id="94" name="" descr=""/>
          <p:cNvPicPr/>
          <p:nvPr/>
        </p:nvPicPr>
        <p:blipFill>
          <a:blip r:embed="rId1"/>
          <a:stretch/>
        </p:blipFill>
        <p:spPr>
          <a:xfrm>
            <a:off x="7056000" y="1324440"/>
            <a:ext cx="2661120" cy="3941640"/>
          </a:xfrm>
          <a:prstGeom prst="rect">
            <a:avLst/>
          </a:prstGeom>
          <a:ln>
            <a:noFill/>
          </a:ln>
        </p:spPr>
      </p:pic>
      <p:sp>
        <p:nvSpPr>
          <p:cNvPr id="95" name="TextShape 2"/>
          <p:cNvSpPr txBox="1"/>
          <p:nvPr/>
        </p:nvSpPr>
        <p:spPr>
          <a:xfrm>
            <a:off x="72000" y="1296000"/>
            <a:ext cx="9926640" cy="39769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r>
              <a:rPr b="1" lang="de-AT" sz="1800" spc="-1" strike="noStrike">
                <a:latin typeface="Arial"/>
              </a:rPr>
              <a:t>Die Einleitung von:</a:t>
            </a:r>
            <a:endParaRPr b="0" lang="de-AT" sz="1800" spc="-1" strike="noStrike">
              <a:latin typeface="Arial"/>
            </a:endParaRPr>
          </a:p>
          <a:p>
            <a:r>
              <a:rPr b="0" lang="de-AT" sz="1800" spc="-1" strike="noStrike">
                <a:latin typeface="Arial"/>
              </a:rPr>
              <a:t>Early European Castles: Aristocracy and Authority, AD 800-1200 </a:t>
            </a:r>
            <a:endParaRPr b="0" lang="de-AT" sz="1800" spc="-1" strike="noStrike">
              <a:latin typeface="Arial"/>
            </a:endParaRPr>
          </a:p>
          <a:p>
            <a:r>
              <a:rPr b="0" lang="de-AT" sz="1800" spc="-1" strike="noStrike">
                <a:latin typeface="Arial"/>
              </a:rPr>
              <a:t>(Debates in Archaeology) Paperback – May 24, 2012</a:t>
            </a:r>
            <a:endParaRPr b="0" lang="de-AT" sz="1800" spc="-1" strike="noStrike">
              <a:latin typeface="Arial"/>
            </a:endParaRPr>
          </a:p>
          <a:p>
            <a:endParaRPr b="0" lang="de-AT" sz="1800" spc="-1" strike="noStrike">
              <a:latin typeface="Arial"/>
            </a:endParaRPr>
          </a:p>
          <a:p>
            <a:r>
              <a:rPr b="1" lang="de-AT" sz="1800" spc="-1" strike="noStrike">
                <a:latin typeface="Arial"/>
              </a:rPr>
              <a:t>Eine ausführliche Liste der Burgen in Österreich:</a:t>
            </a:r>
            <a:endParaRPr b="0" lang="de-AT" sz="1800" spc="-1" strike="noStrike">
              <a:latin typeface="Arial"/>
            </a:endParaRPr>
          </a:p>
          <a:p>
            <a:r>
              <a:rPr b="0" lang="de-AT" sz="1800" spc="-1" strike="noStrike">
                <a:latin typeface="Arial"/>
              </a:rPr>
              <a:t>https://en.wikipedia.org/wiki/List_of_castles_in_Austria</a:t>
            </a:r>
            <a:endParaRPr b="0" lang="de-AT" sz="1800" spc="-1" strike="noStrike">
              <a:latin typeface="Arial"/>
            </a:endParaRPr>
          </a:p>
          <a:p>
            <a:endParaRPr b="0" lang="de-AT" sz="1800" spc="-1" strike="noStrike">
              <a:latin typeface="Arial"/>
            </a:endParaRPr>
          </a:p>
          <a:p>
            <a:r>
              <a:rPr b="1" lang="de-AT" sz="1800" spc="-1" strike="noStrike">
                <a:latin typeface="Arial"/>
              </a:rPr>
              <a:t>Sehr komplett:</a:t>
            </a:r>
            <a:endParaRPr b="0" lang="de-AT" sz="1800" spc="-1" strike="noStrike">
              <a:latin typeface="Arial"/>
            </a:endParaRPr>
          </a:p>
          <a:p>
            <a:r>
              <a:rPr b="0" lang="de-AT" sz="1800" spc="-1" strike="noStrike">
                <a:latin typeface="Arial"/>
              </a:rPr>
              <a:t>https://fa.wikipedia.org/wiki/</a:t>
            </a:r>
            <a:r>
              <a:rPr b="0" lang="hi-IN" sz="1800" spc="-1" strike="noStrike">
                <a:latin typeface="Arial"/>
              </a:rPr>
              <a:t>قلعه</a:t>
            </a:r>
            <a:endParaRPr b="0" lang="de-AT" sz="1800" spc="-1" strike="noStrike">
              <a:latin typeface="Arial"/>
            </a:endParaRPr>
          </a:p>
          <a:p>
            <a:endParaRPr b="0" lang="de-AT" sz="1800" spc="-1" strike="noStrike">
              <a:latin typeface="Arial"/>
            </a:endParaRPr>
          </a:p>
          <a:p>
            <a:r>
              <a:rPr b="1" lang="de-AT" sz="1800" spc="-1" strike="noStrike">
                <a:latin typeface="Arial"/>
              </a:rPr>
              <a:t>Alle Bilder</a:t>
            </a:r>
            <a:r>
              <a:rPr b="0" lang="de-AT" sz="1800" spc="-1" strike="noStrike">
                <a:latin typeface="Arial"/>
              </a:rPr>
              <a:t>:</a:t>
            </a:r>
            <a:endParaRPr b="0" lang="de-AT" sz="1800" spc="-1" strike="noStrike">
              <a:latin typeface="Arial"/>
            </a:endParaRPr>
          </a:p>
          <a:p>
            <a:r>
              <a:rPr b="0" lang="de-AT" sz="1800" spc="-1" strike="noStrike">
                <a:latin typeface="Arial"/>
              </a:rPr>
              <a:t>https://en.wikipedia.org/wiki/Castle</a:t>
            </a:r>
            <a:endParaRPr b="0" lang="de-AT" sz="1800" spc="-1" strike="noStrike">
              <a:latin typeface="Arial"/>
            </a:endParaRPr>
          </a:p>
          <a:p>
            <a:endParaRPr b="0" lang="de-AT" sz="1800" spc="-1" strike="noStrike">
              <a:latin typeface="Arial"/>
            </a:endParaRPr>
          </a:p>
          <a:p>
            <a:r>
              <a:rPr b="1" lang="de-AT" sz="1800" spc="-1" strike="noStrike">
                <a:latin typeface="Arial"/>
              </a:rPr>
              <a:t>Die besondere Wörter:</a:t>
            </a:r>
            <a:endParaRPr b="0" lang="de-AT" sz="1800" spc="-1" strike="noStrike">
              <a:latin typeface="Arial"/>
            </a:endParaRPr>
          </a:p>
          <a:p>
            <a:r>
              <a:rPr b="0" lang="de-AT" sz="1800" spc="-1" strike="noStrike">
                <a:latin typeface="Arial"/>
              </a:rPr>
              <a:t>https://de.wikipedia.org/wiki/Burg</a:t>
            </a:r>
            <a:endParaRPr b="0" lang="de-AT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extShape 1"/>
          <p:cNvSpPr txBox="1"/>
          <p:nvPr/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de-AT" sz="4400" spc="-1" strike="noStrike">
                <a:solidFill>
                  <a:srgbClr val="2a6099"/>
                </a:solidFill>
                <a:latin typeface="Arial"/>
              </a:rPr>
              <a:t>Eure Meinungen</a:t>
            </a:r>
            <a:endParaRPr b="0" lang="de-AT" sz="4400" spc="-1" strike="noStrike">
              <a:latin typeface="Arial"/>
            </a:endParaRPr>
          </a:p>
        </p:txBody>
      </p:sp>
      <p:sp>
        <p:nvSpPr>
          <p:cNvPr id="97" name="TextShape 2"/>
          <p:cNvSpPr txBox="1"/>
          <p:nvPr/>
        </p:nvSpPr>
        <p:spPr>
          <a:xfrm>
            <a:off x="288000" y="2304000"/>
            <a:ext cx="4320000" cy="12222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 marL="216000" indent="-2160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AT" sz="1800" spc="-1" strike="noStrike">
                <a:latin typeface="Arial"/>
                <a:ea typeface="Noto Sans CJK SC"/>
              </a:rPr>
              <a:t>Wie wichtig sind die Burgen in eure Heimaten?</a:t>
            </a:r>
            <a:endParaRPr b="0" lang="de-AT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AT" sz="1800" spc="-1" strike="noStrike">
                <a:latin typeface="Arial"/>
                <a:ea typeface="Noto Sans CJK SC"/>
              </a:rPr>
              <a:t>Möchten Sie ein Burg zum Leben haben?</a:t>
            </a:r>
            <a:endParaRPr b="0" lang="de-AT" sz="1800" spc="-1" strike="noStrike">
              <a:latin typeface="Arial"/>
            </a:endParaRPr>
          </a:p>
        </p:txBody>
      </p:sp>
      <p:pic>
        <p:nvPicPr>
          <p:cNvPr id="98" name="" descr=""/>
          <p:cNvPicPr/>
          <p:nvPr/>
        </p:nvPicPr>
        <p:blipFill>
          <a:blip r:embed="rId1"/>
          <a:stretch/>
        </p:blipFill>
        <p:spPr>
          <a:xfrm>
            <a:off x="4320000" y="1368000"/>
            <a:ext cx="5400000" cy="3600000"/>
          </a:xfrm>
          <a:prstGeom prst="rect">
            <a:avLst/>
          </a:prstGeom>
          <a:ln>
            <a:noFill/>
          </a:ln>
        </p:spPr>
      </p:pic>
      <p:sp>
        <p:nvSpPr>
          <p:cNvPr id="99" name="TextShape 3"/>
          <p:cNvSpPr txBox="1"/>
          <p:nvPr/>
        </p:nvSpPr>
        <p:spPr>
          <a:xfrm>
            <a:off x="4266000" y="4981320"/>
            <a:ext cx="4230000" cy="34668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r>
              <a:rPr b="0" lang="de-AT" sz="1800" spc="-1" strike="noStrike">
                <a:latin typeface="Arial"/>
              </a:rPr>
              <a:t>Burg Bam, Iran, 6. Jahrhundert v. Chr</a:t>
            </a:r>
            <a:endParaRPr b="0" lang="de-AT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13328</TotalTime>
  <Application>LibreOffice/6.4.7.2$Linux_X86_64 LibreOffice_project/40$Build-2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2023-05-27T18:32:36Z</dcterms:created>
  <dc:creator/>
  <dc:description/>
  <dc:language>de-AT</dc:language>
  <cp:lastModifiedBy/>
  <dcterms:modified xsi:type="dcterms:W3CDTF">2023-06-19T17:35:16Z</dcterms:modified>
  <cp:revision>101</cp:revision>
  <dc:subject/>
  <dc:title/>
</cp:coreProperties>
</file>